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al Unicode" panose="020B0604020202020204" charset="-128"/>
      <p:regular r:id="rId12"/>
    </p:embeddedFont>
    <p:embeddedFont>
      <p:font typeface="Arial Unicode Bold" panose="020B0604020202020204" charset="-128"/>
      <p:bold r:id="rId13"/>
    </p:embeddedFont>
    <p:embeddedFont>
      <p:font typeface="Anton" panose="020F0502020204030204" pitchFamily="2" charset="0"/>
      <p:regular r:id="rId14"/>
    </p:embeddedFont>
    <p:embeddedFont>
      <p:font typeface="Stencil" panose="040409050D0802020404" pitchFamily="8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6643193"/>
            <a:ext cx="18060193" cy="27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30"/>
              </a:lnSpc>
            </a:pPr>
            <a:r>
              <a:rPr lang="en-US" sz="22860" spc="-1120" dirty="0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ARYA-X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3904" y="196963"/>
            <a:ext cx="18060193" cy="27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30"/>
              </a:lnSpc>
            </a:pPr>
            <a:r>
              <a:rPr lang="en-US" sz="22860" spc="-1120">
                <a:solidFill>
                  <a:srgbClr val="D9D9D9">
                    <a:alpha val="34902"/>
                  </a:srgbClr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ARYA-X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04708" y="4476527"/>
            <a:ext cx="2354592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0"/>
              </a:lnSpc>
            </a:pPr>
            <a:r>
              <a:rPr lang="en-US" sz="1465" b="1" spc="58" dirty="0">
                <a:solidFill>
                  <a:srgbClr val="181718"/>
                </a:solidFill>
                <a:latin typeface="Arial Unicode Bold" panose="020B0704020202020204" charset="-122"/>
                <a:ea typeface="Arial Unicode Bold" panose="020B0704020202020204" charset="-122"/>
                <a:cs typeface="Arial Unicode Bold" panose="020B0704020202020204" charset="-122"/>
                <a:sym typeface="Arial Unicode Bold" panose="020B0704020202020204" charset="-122"/>
              </a:rPr>
              <a:t>MULTI-AGENT ISR SENSOR ALLOCATION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954E4-0D6D-0844-42DE-667F2337B35F}"/>
              </a:ext>
            </a:extLst>
          </p:cNvPr>
          <p:cNvSpPr txBox="1"/>
          <p:nvPr/>
        </p:nvSpPr>
        <p:spPr>
          <a:xfrm>
            <a:off x="4267596" y="9226989"/>
            <a:ext cx="9525000" cy="27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60"/>
              </a:lnSpc>
            </a:pPr>
            <a:r>
              <a:rPr lang="en-US" sz="2800" b="1" spc="58" dirty="0" err="1">
                <a:solidFill>
                  <a:srgbClr val="181718"/>
                </a:solidFill>
                <a:latin typeface="Stencil" panose="040409050D0802020404" pitchFamily="82" charset="0"/>
                <a:ea typeface="Arial Unicode Bold" panose="020B0704020202020204" charset="-122"/>
                <a:cs typeface="Arial Unicode Bold" panose="020B0704020202020204" charset="-122"/>
                <a:sym typeface="Arial Unicode Bold" panose="020B0704020202020204" charset="-122"/>
              </a:rPr>
              <a:t>Chathurvitha</a:t>
            </a:r>
            <a:r>
              <a:rPr lang="en-US" sz="2800" b="1" spc="58" dirty="0">
                <a:solidFill>
                  <a:srgbClr val="181718"/>
                </a:solidFill>
                <a:latin typeface="Stencil" panose="040409050D0802020404" pitchFamily="82" charset="0"/>
                <a:ea typeface="Arial Unicode Bold" panose="020B0704020202020204" charset="-122"/>
                <a:cs typeface="Arial Unicode Bold" panose="020B0704020202020204" charset="-122"/>
                <a:sym typeface="Arial Unicode Bold" panose="020B0704020202020204" charset="-122"/>
              </a:rPr>
              <a:t> SK, Smriti S, Vishal 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904" y="2371466"/>
            <a:ext cx="18060193" cy="86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7200" spc="-352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ARYA-X: MULTI-AGENT SENSOR COORDINATION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3904" y="393052"/>
            <a:ext cx="18060193" cy="94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8000" spc="-392">
                <a:solidFill>
                  <a:srgbClr val="D9D9D9">
                    <a:alpha val="34902"/>
                  </a:srgbClr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ARYA-X: MULTI-AGENT SENSOR COORDINATION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222303"/>
            <a:ext cx="3132807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19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INTELLIGENT DECISION 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920726"/>
            <a:ext cx="6265614" cy="1367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70" lvl="1" indent="-140335" algn="l">
              <a:lnSpc>
                <a:spcPts val="1820"/>
              </a:lnSpc>
              <a:buFont typeface="Arial" panose="020B0604020202020204"/>
              <a:buChar char="•"/>
            </a:pPr>
            <a:r>
              <a:rPr lang="en-US" sz="1300" spc="-13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ARYA-X is an AI-driven system designed to make real-time decisions in complex environments</a:t>
            </a:r>
          </a:p>
          <a:p>
            <a:pPr marL="280670" lvl="1" indent="-140335" algn="l">
              <a:lnSpc>
                <a:spcPts val="1820"/>
              </a:lnSpc>
              <a:buFont typeface="Arial" panose="020B0604020202020204"/>
              <a:buChar char="•"/>
            </a:pPr>
            <a:r>
              <a:rPr lang="en-US" sz="1300" spc="-13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Uses Reinforcement Learning to learn optimal actions instead of relying on fixed rules</a:t>
            </a:r>
          </a:p>
          <a:p>
            <a:pPr marL="280670" lvl="1" indent="-140335" algn="l">
              <a:lnSpc>
                <a:spcPts val="1820"/>
              </a:lnSpc>
              <a:buFont typeface="Arial" panose="020B0604020202020204"/>
              <a:buChar char="•"/>
            </a:pPr>
            <a:r>
              <a:rPr lang="en-US" sz="1300" spc="-13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Continuously improves performance based on feedback from the environment</a:t>
            </a:r>
          </a:p>
          <a:p>
            <a:pPr algn="l">
              <a:lnSpc>
                <a:spcPts val="1820"/>
              </a:lnSpc>
            </a:pPr>
            <a:endParaRPr lang="en-US" sz="1300" spc="-13">
              <a:solidFill>
                <a:srgbClr val="181718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479141" y="6754178"/>
            <a:ext cx="287982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19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MULTI-AGENT COORDINATION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9141" y="7087553"/>
            <a:ext cx="6265614" cy="90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70" lvl="1" indent="-140335" algn="l">
              <a:lnSpc>
                <a:spcPts val="1820"/>
              </a:lnSpc>
              <a:buFont typeface="Arial" panose="020B0604020202020204"/>
              <a:buChar char="•"/>
            </a:pPr>
            <a:r>
              <a:rPr lang="en-US" sz="1300" spc="-13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Built with multiple specialized agents (Satellite, Drone, Radar, Command)</a:t>
            </a:r>
          </a:p>
          <a:p>
            <a:pPr marL="280670" lvl="1" indent="-140335" algn="l">
              <a:lnSpc>
                <a:spcPts val="1820"/>
              </a:lnSpc>
              <a:buFont typeface="Arial" panose="020B0604020202020204"/>
              <a:buChar char="•"/>
            </a:pPr>
            <a:r>
              <a:rPr lang="en-US" sz="1300" spc="-13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Each agent operates with partial knowledge, making independent decisions</a:t>
            </a:r>
          </a:p>
          <a:p>
            <a:pPr marL="280670" lvl="1" indent="-140335" algn="l">
              <a:lnSpc>
                <a:spcPts val="1820"/>
              </a:lnSpc>
              <a:buFont typeface="Arial" panose="020B0604020202020204"/>
              <a:buChar char="•"/>
            </a:pPr>
            <a:r>
              <a:rPr lang="en-US" sz="1300" spc="-13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Coordination emerges through interaction, not direct communication</a:t>
            </a:r>
          </a:p>
          <a:p>
            <a:pPr algn="l">
              <a:lnSpc>
                <a:spcPts val="1820"/>
              </a:lnSpc>
            </a:pPr>
            <a:endParaRPr lang="en-US" sz="1300" spc="-13">
              <a:solidFill>
                <a:srgbClr val="181718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993686" y="8364855"/>
            <a:ext cx="3390719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 spc="-19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 REAL-WORLD INSPIRED SIMULATION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93686" y="8698230"/>
            <a:ext cx="6265614" cy="1367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70" lvl="1" indent="-140335" algn="just">
              <a:lnSpc>
                <a:spcPts val="1820"/>
              </a:lnSpc>
              <a:buFont typeface="Arial" panose="020B0604020202020204"/>
              <a:buChar char="•"/>
            </a:pPr>
            <a:r>
              <a:rPr lang="en-US" sz="1300" spc="-13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Designed based on ISR (Intelligence, Surveillance, Reconnaissance) scenarios</a:t>
            </a:r>
          </a:p>
          <a:p>
            <a:pPr algn="just">
              <a:lnSpc>
                <a:spcPts val="1820"/>
              </a:lnSpc>
            </a:pPr>
            <a:r>
              <a:rPr lang="en-US" sz="1300" spc="-13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      Simulates real-world challenges like:</a:t>
            </a:r>
          </a:p>
          <a:p>
            <a:pPr marL="280670" lvl="1" indent="-140335" algn="just">
              <a:lnSpc>
                <a:spcPts val="1820"/>
              </a:lnSpc>
              <a:buFont typeface="Arial" panose="020B0604020202020204"/>
              <a:buChar char="•"/>
            </a:pPr>
            <a:r>
              <a:rPr lang="en-US" sz="1300" spc="-13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Resource conflicts</a:t>
            </a:r>
          </a:p>
          <a:p>
            <a:pPr marL="280670" lvl="1" indent="-140335" algn="just">
              <a:lnSpc>
                <a:spcPts val="1820"/>
              </a:lnSpc>
              <a:buFont typeface="Arial" panose="020B0604020202020204"/>
              <a:buChar char="•"/>
            </a:pPr>
            <a:r>
              <a:rPr lang="en-US" sz="1300" spc="-13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Priority-based task allocation</a:t>
            </a:r>
          </a:p>
          <a:p>
            <a:pPr marL="280670" lvl="1" indent="-140335" algn="just">
              <a:lnSpc>
                <a:spcPts val="1820"/>
              </a:lnSpc>
              <a:buFont typeface="Arial" panose="020B0604020202020204"/>
              <a:buChar char="•"/>
            </a:pPr>
            <a:r>
              <a:rPr lang="en-US" sz="1300" spc="-13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Ensures solutions are practical and scalable for real applications</a:t>
            </a:r>
          </a:p>
          <a:p>
            <a:pPr algn="just">
              <a:lnSpc>
                <a:spcPts val="1820"/>
              </a:lnSpc>
            </a:pPr>
            <a:endParaRPr lang="en-US" sz="1300" spc="-13">
              <a:solidFill>
                <a:srgbClr val="181718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904" y="1536708"/>
            <a:ext cx="18060193" cy="94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8000" spc="-392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PROBLEM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5" y="-174512"/>
            <a:ext cx="18287090" cy="143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12000" spc="-588">
                <a:solidFill>
                  <a:srgbClr val="D9D9D9">
                    <a:alpha val="34902"/>
                  </a:srgbClr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37561" y="4781550"/>
            <a:ext cx="2160098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500" spc="-24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 CORE PROBLEM: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73988" y="5705719"/>
            <a:ext cx="8745949" cy="164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Multiple agents assign the same sensors simultaneously</a:t>
            </a:r>
          </a:p>
          <a:p>
            <a:pPr algn="l">
              <a:lnSpc>
                <a:spcPts val="2240"/>
              </a:lnSpc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      Leads to: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Over-assignment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Redundant coverage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Missed high-priority targets</a:t>
            </a:r>
          </a:p>
          <a:p>
            <a:pPr algn="l">
              <a:lnSpc>
                <a:spcPts val="2240"/>
              </a:lnSpc>
            </a:pPr>
            <a:endParaRPr lang="en-US" sz="1600" spc="-16">
              <a:solidFill>
                <a:srgbClr val="181718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473988" y="3119346"/>
            <a:ext cx="8745949" cy="109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Multiple sensors must monitor dynamic threats in real time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Different sensor types (satellite, drone, radar) have different capabilities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Traditional systems struggle with coordination</a:t>
            </a:r>
          </a:p>
          <a:p>
            <a:pPr algn="l">
              <a:lnSpc>
                <a:spcPts val="2240"/>
              </a:lnSpc>
            </a:pPr>
            <a:endParaRPr lang="en-US" sz="1600" spc="-16">
              <a:solidFill>
                <a:srgbClr val="181718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904" y="2141642"/>
            <a:ext cx="18060193" cy="94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8000" spc="-392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PHASE 1 (BASELINE SYSTEM)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336741" y="-60212"/>
            <a:ext cx="18847181" cy="143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12000" spc="-588">
                <a:solidFill>
                  <a:srgbClr val="D9D9D9">
                    <a:alpha val="34902"/>
                  </a:srgbClr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PHASE 1 (BASELINE SYSTEM)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18334" y="3668818"/>
            <a:ext cx="435197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20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SENTINELENV (SINGLE-AGENT APPROACH)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42112" y="5397184"/>
            <a:ext cx="1734807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spc="-20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LIMITATIONS: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18334" y="4158934"/>
            <a:ext cx="315731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0" lvl="1" indent="-161925" algn="l">
              <a:lnSpc>
                <a:spcPts val="2100"/>
              </a:lnSpc>
              <a:buFont typeface="Arial" panose="020B0604020202020204"/>
              <a:buChar char="•"/>
            </a:pPr>
            <a:r>
              <a:rPr lang="en-US" sz="1500" spc="-15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One agent controls all sensors</a:t>
            </a:r>
          </a:p>
          <a:p>
            <a:pPr marL="323850" lvl="1" indent="-161925" algn="l">
              <a:lnSpc>
                <a:spcPts val="2100"/>
              </a:lnSpc>
              <a:buFont typeface="Arial" panose="020B0604020202020204"/>
              <a:buChar char="•"/>
            </a:pPr>
            <a:r>
              <a:rPr lang="en-US" sz="1500" spc="-15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Uses greedy assignment strategy</a:t>
            </a:r>
          </a:p>
          <a:p>
            <a:pPr marL="323850" lvl="1" indent="-161925" algn="l">
              <a:lnSpc>
                <a:spcPts val="2100"/>
              </a:lnSpc>
              <a:buFont typeface="Arial" panose="020B0604020202020204"/>
              <a:buChar char="•"/>
            </a:pPr>
            <a:r>
              <a:rPr lang="en-US" sz="1500" spc="-15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No specialization or coordination</a:t>
            </a:r>
          </a:p>
          <a:p>
            <a:pPr algn="l">
              <a:lnSpc>
                <a:spcPts val="2100"/>
              </a:lnSpc>
            </a:pPr>
            <a:endParaRPr lang="en-US" sz="1500" spc="-15">
              <a:solidFill>
                <a:srgbClr val="181718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618334" y="6114099"/>
            <a:ext cx="3517172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3850" lvl="1" indent="-161925" algn="l">
              <a:lnSpc>
                <a:spcPts val="2100"/>
              </a:lnSpc>
              <a:buFont typeface="Arial" panose="020B0604020202020204"/>
              <a:buChar char="•"/>
            </a:pPr>
            <a:r>
              <a:rPr lang="en-US" sz="1500" spc="-15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No conflict detection</a:t>
            </a:r>
          </a:p>
          <a:p>
            <a:pPr marL="323850" lvl="1" indent="-161925" algn="l">
              <a:lnSpc>
                <a:spcPts val="2100"/>
              </a:lnSpc>
              <a:buFont typeface="Arial" panose="020B0604020202020204"/>
              <a:buChar char="•"/>
            </a:pPr>
            <a:r>
              <a:rPr lang="en-US" sz="1500" spc="-15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Inefficient sensor usage</a:t>
            </a:r>
          </a:p>
          <a:p>
            <a:pPr marL="323850" lvl="1" indent="-161925" algn="l">
              <a:lnSpc>
                <a:spcPts val="2100"/>
              </a:lnSpc>
              <a:buFont typeface="Arial" panose="020B0604020202020204"/>
              <a:buChar char="•"/>
            </a:pPr>
            <a:r>
              <a:rPr lang="en-US" sz="1500" spc="-15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High-priority targets can be missed</a:t>
            </a:r>
          </a:p>
          <a:p>
            <a:pPr marL="323850" lvl="1" indent="-161925" algn="l">
              <a:lnSpc>
                <a:spcPts val="2100"/>
              </a:lnSpc>
              <a:buFont typeface="Arial" panose="020B0604020202020204"/>
              <a:buChar char="•"/>
            </a:pPr>
            <a:r>
              <a:rPr lang="en-US" sz="1500" spc="-15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No learning or adaptability</a:t>
            </a:r>
          </a:p>
          <a:p>
            <a:pPr algn="l">
              <a:lnSpc>
                <a:spcPts val="2100"/>
              </a:lnSpc>
            </a:pPr>
            <a:endParaRPr lang="en-US" sz="1500" spc="-15">
              <a:solidFill>
                <a:srgbClr val="181718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904" y="1295400"/>
            <a:ext cx="18060193" cy="94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8000" spc="-392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PHASE 2 (ARYA-X UPGRADE)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26054" y="4045592"/>
            <a:ext cx="359136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21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MULTI-AGENT INTELLIGENT 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26054" y="4984066"/>
            <a:ext cx="3182436" cy="164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4 specialized agents: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Satellite (wide coverage)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Drone (kinetic targets)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Radar (airspace tracking)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Command (final authority)</a:t>
            </a:r>
          </a:p>
          <a:p>
            <a:pPr algn="l">
              <a:lnSpc>
                <a:spcPts val="2240"/>
              </a:lnSpc>
            </a:pPr>
            <a:endParaRPr lang="en-US" sz="1600" spc="-16">
              <a:solidFill>
                <a:srgbClr val="181718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100694" y="4045592"/>
            <a:ext cx="230731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21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KEY IMPROVEMENTS: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24262" y="5114925"/>
            <a:ext cx="3575012" cy="109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Partial observation for realism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Independent decision-making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Shared environment coordination</a:t>
            </a:r>
          </a:p>
          <a:p>
            <a:pPr algn="l">
              <a:lnSpc>
                <a:spcPts val="2240"/>
              </a:lnSpc>
            </a:pPr>
            <a:endParaRPr lang="en-US" sz="1600" spc="-16">
              <a:solidFill>
                <a:srgbClr val="181718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904" y="1295400"/>
            <a:ext cx="18060193" cy="94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8000" spc="-392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PHASE 1 VS PHASE 2 (KEY SLIDE)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87424" y="2589790"/>
            <a:ext cx="359136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21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PHASE 1 SHOWED THE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87424" y="3227965"/>
            <a:ext cx="3182436" cy="109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Single agent, greedy decisions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No coordination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High conflicts and inefficiency</a:t>
            </a:r>
          </a:p>
          <a:p>
            <a:pPr algn="l">
              <a:lnSpc>
                <a:spcPts val="2240"/>
              </a:lnSpc>
            </a:pPr>
            <a:endParaRPr lang="en-US" sz="1600" spc="-16">
              <a:solidFill>
                <a:srgbClr val="181718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973446" y="2589790"/>
            <a:ext cx="526799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21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PHASE 2 SOLVED IT USING LEARNING + COORDINATION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73446" y="3227965"/>
            <a:ext cx="3575012" cy="164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Multi-agent system with specialization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Conflict-aware reward system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Negotiation-based resolution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Adaptive learning over time</a:t>
            </a:r>
          </a:p>
          <a:p>
            <a:pPr algn="l">
              <a:lnSpc>
                <a:spcPts val="2240"/>
              </a:lnSpc>
            </a:pPr>
            <a:endParaRPr lang="en-US" sz="1600" spc="-16">
              <a:solidFill>
                <a:srgbClr val="181718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887424" y="5153025"/>
            <a:ext cx="359136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21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RESULT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87424" y="5791200"/>
            <a:ext cx="3182436" cy="164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Conflict rate reduced (~50%)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Coordination score improved (~30%)</a:t>
            </a:r>
          </a:p>
          <a:p>
            <a:pPr marL="345440" lvl="1" indent="-172720" algn="l">
              <a:lnSpc>
                <a:spcPts val="2240"/>
              </a:lnSpc>
              <a:buFont typeface="Arial" panose="020B0604020202020204"/>
              <a:buChar char="•"/>
            </a:pPr>
            <a:r>
              <a:rPr lang="en-US" sz="1600" spc="-16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System learns optimal behavior automatically</a:t>
            </a:r>
          </a:p>
          <a:p>
            <a:pPr algn="l">
              <a:lnSpc>
                <a:spcPts val="2240"/>
              </a:lnSpc>
            </a:pPr>
            <a:endParaRPr lang="en-US" sz="1600" spc="-16">
              <a:solidFill>
                <a:srgbClr val="181718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904" y="1295400"/>
            <a:ext cx="18060193" cy="94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8000" spc="-392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WORKFLOW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25704" y="3256857"/>
            <a:ext cx="4926410" cy="3871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0" lvl="1" indent="-183515" algn="l">
              <a:lnSpc>
                <a:spcPts val="3130"/>
              </a:lnSpc>
              <a:buFont typeface="Arial" panose="020B0604020202020204"/>
              <a:buChar char="•"/>
            </a:pPr>
            <a:r>
              <a:rPr lang="en-US" sz="1700" spc="-17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Environment initializes with threats and sensors</a:t>
            </a:r>
          </a:p>
          <a:p>
            <a:pPr marL="367030" lvl="1" indent="-183515" algn="l">
              <a:lnSpc>
                <a:spcPts val="3130"/>
              </a:lnSpc>
              <a:buFont typeface="Arial" panose="020B0604020202020204"/>
              <a:buChar char="•"/>
            </a:pPr>
            <a:r>
              <a:rPr lang="en-US" sz="1700" spc="-17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Agents observe partial state</a:t>
            </a:r>
          </a:p>
          <a:p>
            <a:pPr marL="367030" lvl="1" indent="-183515" algn="l">
              <a:lnSpc>
                <a:spcPts val="3130"/>
              </a:lnSpc>
              <a:buFont typeface="Arial" panose="020B0604020202020204"/>
              <a:buChar char="•"/>
            </a:pPr>
            <a:r>
              <a:rPr lang="en-US" sz="1700" spc="-17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Each agent proposes sensor-target assignments</a:t>
            </a:r>
          </a:p>
          <a:p>
            <a:pPr marL="367030" lvl="1" indent="-183515" algn="l">
              <a:lnSpc>
                <a:spcPts val="3130"/>
              </a:lnSpc>
              <a:buFont typeface="Arial" panose="020B0604020202020204"/>
              <a:buChar char="•"/>
            </a:pPr>
            <a:r>
              <a:rPr lang="en-US" sz="1700" spc="-17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Negotiation layer collects all proposals</a:t>
            </a:r>
          </a:p>
          <a:p>
            <a:pPr marL="367030" lvl="1" indent="-183515" algn="l">
              <a:lnSpc>
                <a:spcPts val="3130"/>
              </a:lnSpc>
              <a:buFont typeface="Arial" panose="020B0604020202020204"/>
              <a:buChar char="•"/>
            </a:pPr>
            <a:r>
              <a:rPr lang="en-US" sz="1700" spc="-17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Conflict detector identifies issues</a:t>
            </a:r>
          </a:p>
          <a:p>
            <a:pPr marL="367030" lvl="1" indent="-183515" algn="l">
              <a:lnSpc>
                <a:spcPts val="3130"/>
              </a:lnSpc>
              <a:buFont typeface="Arial" panose="020B0604020202020204"/>
              <a:buChar char="•"/>
            </a:pPr>
            <a:r>
              <a:rPr lang="en-US" sz="1700" spc="-17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Conflict resolver applies priority + capability rules</a:t>
            </a:r>
          </a:p>
          <a:p>
            <a:pPr marL="367030" lvl="1" indent="-183515" algn="l">
              <a:lnSpc>
                <a:spcPts val="3130"/>
              </a:lnSpc>
              <a:buFont typeface="Arial" panose="020B0604020202020204"/>
              <a:buChar char="•"/>
            </a:pPr>
            <a:r>
              <a:rPr lang="en-US" sz="1700" spc="-17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Reward engine evaluates performance</a:t>
            </a:r>
          </a:p>
          <a:p>
            <a:pPr marL="367030" lvl="1" indent="-183515" algn="l">
              <a:lnSpc>
                <a:spcPts val="3130"/>
              </a:lnSpc>
              <a:buFont typeface="Arial" panose="020B0604020202020204"/>
              <a:buChar char="•"/>
            </a:pPr>
            <a:r>
              <a:rPr lang="en-US" sz="1700" spc="-17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System updates and repeats</a:t>
            </a:r>
          </a:p>
          <a:p>
            <a:pPr algn="l">
              <a:lnSpc>
                <a:spcPts val="3130"/>
              </a:lnSpc>
            </a:pPr>
            <a:endParaRPr lang="en-US" sz="1700" spc="-17">
              <a:solidFill>
                <a:srgbClr val="000000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  <a:p>
            <a:pPr algn="l">
              <a:lnSpc>
                <a:spcPts val="3130"/>
              </a:lnSpc>
            </a:pPr>
            <a:endParaRPr lang="en-US" sz="1700" spc="-17">
              <a:solidFill>
                <a:srgbClr val="000000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904" y="1295400"/>
            <a:ext cx="18060193" cy="946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8000" spc="-392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RL &amp; REWARD SYSTEM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523440" y="3402085"/>
            <a:ext cx="990514" cy="99051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3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446545" y="4953000"/>
            <a:ext cx="990514" cy="99051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34902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40149" y="6566859"/>
            <a:ext cx="990514" cy="99051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34902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182237" y="3292505"/>
            <a:ext cx="3534113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21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REINFORCEMENT LEARNING SETUP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82237" y="3845864"/>
            <a:ext cx="6265614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 panose="020B0604020202020204"/>
              <a:buChar char="•"/>
            </a:pPr>
            <a:r>
              <a:rPr lang="en-US" sz="1800" spc="-18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Agent → decision maker</a:t>
            </a:r>
          </a:p>
          <a:p>
            <a:pPr marL="388620" lvl="1" indent="-194310" algn="l">
              <a:lnSpc>
                <a:spcPts val="2520"/>
              </a:lnSpc>
              <a:buFont typeface="Arial" panose="020B0604020202020204"/>
              <a:buChar char="•"/>
            </a:pPr>
            <a:r>
              <a:rPr lang="en-US" sz="1800" spc="-18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Environment → OpenEnv simulation</a:t>
            </a:r>
          </a:p>
          <a:p>
            <a:pPr marL="388620" lvl="1" indent="-194310" algn="l">
              <a:lnSpc>
                <a:spcPts val="2520"/>
              </a:lnSpc>
              <a:buFont typeface="Arial" panose="020B0604020202020204"/>
              <a:buChar char="•"/>
            </a:pPr>
            <a:r>
              <a:rPr lang="en-US" sz="1800" spc="-18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Actions → sensor assignments</a:t>
            </a:r>
          </a:p>
          <a:p>
            <a:pPr marL="388620" lvl="1" indent="-194310" algn="l">
              <a:lnSpc>
                <a:spcPts val="2520"/>
              </a:lnSpc>
              <a:buFont typeface="Arial" panose="020B0604020202020204"/>
              <a:buChar char="•"/>
            </a:pPr>
            <a:r>
              <a:rPr lang="en-US" sz="1800" spc="-18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Rewards → performance feedback</a:t>
            </a:r>
          </a:p>
          <a:p>
            <a:pPr algn="l">
              <a:lnSpc>
                <a:spcPts val="2520"/>
              </a:lnSpc>
            </a:pPr>
            <a:endParaRPr lang="en-US" sz="1800" spc="-18">
              <a:solidFill>
                <a:srgbClr val="181718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63814" y="3304837"/>
            <a:ext cx="1734807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spc="-21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REWARD LOGIC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63814" y="3859242"/>
            <a:ext cx="6265614" cy="219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520"/>
              </a:lnSpc>
              <a:buFont typeface="Arial" panose="020B0604020202020204"/>
              <a:buChar char="•"/>
            </a:pPr>
            <a:r>
              <a:rPr lang="en-US" sz="1800" spc="-18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Positive:</a:t>
            </a:r>
          </a:p>
          <a:p>
            <a:pPr algn="l">
              <a:lnSpc>
                <a:spcPts val="2520"/>
              </a:lnSpc>
            </a:pPr>
            <a:r>
              <a:rPr lang="en-US" sz="1800" spc="-18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                     Efficient coverage</a:t>
            </a:r>
          </a:p>
          <a:p>
            <a:pPr algn="l">
              <a:lnSpc>
                <a:spcPts val="2520"/>
              </a:lnSpc>
            </a:pPr>
            <a:r>
              <a:rPr lang="en-US" sz="1800" spc="-18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                     Correct sensor usage</a:t>
            </a:r>
          </a:p>
          <a:p>
            <a:pPr marL="388620" lvl="1" indent="-194310" algn="l">
              <a:lnSpc>
                <a:spcPts val="2520"/>
              </a:lnSpc>
              <a:buFont typeface="Arial" panose="020B0604020202020204"/>
              <a:buChar char="•"/>
            </a:pPr>
            <a:r>
              <a:rPr lang="en-US" sz="1800" spc="-18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Negative:</a:t>
            </a:r>
          </a:p>
          <a:p>
            <a:pPr algn="l">
              <a:lnSpc>
                <a:spcPts val="2520"/>
              </a:lnSpc>
            </a:pPr>
            <a:r>
              <a:rPr lang="en-US" sz="1800" spc="-18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                     Conflicts</a:t>
            </a:r>
          </a:p>
          <a:p>
            <a:pPr algn="l">
              <a:lnSpc>
                <a:spcPts val="2520"/>
              </a:lnSpc>
            </a:pPr>
            <a:r>
              <a:rPr lang="en-US" sz="1800" spc="-18">
                <a:solidFill>
                  <a:srgbClr val="181718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                     Redundant assignments</a:t>
            </a:r>
          </a:p>
          <a:p>
            <a:pPr algn="l">
              <a:lnSpc>
                <a:spcPts val="2520"/>
              </a:lnSpc>
            </a:pPr>
            <a:endParaRPr lang="en-US" sz="1800" spc="-18">
              <a:solidFill>
                <a:srgbClr val="181718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904" y="1457325"/>
            <a:ext cx="18060193" cy="153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65"/>
              </a:lnSpc>
            </a:pPr>
            <a:r>
              <a:rPr lang="en-US" sz="12900" spc="-632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IMPACT &amp; FUTURE SCOPE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95856" y="4781903"/>
            <a:ext cx="1649304" cy="164930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3490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95856" y="3332416"/>
            <a:ext cx="2888628" cy="491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3330" spc="-33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IMPACT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447518" y="4781903"/>
            <a:ext cx="1649304" cy="164930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3490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096822" y="3332416"/>
            <a:ext cx="2299764" cy="98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3330" spc="-33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RESEARCH CONTRIBUTION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919562" y="4781903"/>
            <a:ext cx="1649304" cy="164930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34902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272528" y="3332416"/>
            <a:ext cx="2888628" cy="491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5"/>
              </a:lnSpc>
            </a:pPr>
            <a:r>
              <a:rPr lang="en-US" sz="3330" spc="-33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FUTURE SCOPE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95856" y="4189149"/>
            <a:ext cx="4844455" cy="235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0" lvl="1" indent="-215900" algn="l">
              <a:lnSpc>
                <a:spcPts val="2400"/>
              </a:lnSpc>
              <a:buFont typeface="Arial" panose="020B0604020202020204"/>
              <a:buChar char="•"/>
            </a:pPr>
            <a:r>
              <a:rPr lang="en-US" sz="2000" spc="-19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Real-time intelligent sensor coordination</a:t>
            </a:r>
          </a:p>
          <a:p>
            <a:pPr algn="l">
              <a:lnSpc>
                <a:spcPts val="2400"/>
              </a:lnSpc>
            </a:pPr>
            <a:r>
              <a:rPr lang="en-US" sz="2000" spc="-19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 </a:t>
            </a:r>
          </a:p>
          <a:p>
            <a:pPr algn="l">
              <a:lnSpc>
                <a:spcPts val="2400"/>
              </a:lnSpc>
            </a:pPr>
            <a:r>
              <a:rPr lang="en-US" sz="2000" spc="-19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Applicable in:</a:t>
            </a:r>
          </a:p>
          <a:p>
            <a:pPr algn="l">
              <a:lnSpc>
                <a:spcPts val="2400"/>
              </a:lnSpc>
            </a:pPr>
            <a:endParaRPr lang="en-US" sz="2000" spc="-19">
              <a:solidFill>
                <a:srgbClr val="000000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  <a:p>
            <a:pPr marL="431800" lvl="1" indent="-215900" algn="l">
              <a:lnSpc>
                <a:spcPts val="2400"/>
              </a:lnSpc>
              <a:buFont typeface="Arial" panose="020B0604020202020204"/>
              <a:buChar char="•"/>
            </a:pPr>
            <a:r>
              <a:rPr lang="en-US" sz="2000" spc="-19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Defense systems</a:t>
            </a:r>
          </a:p>
          <a:p>
            <a:pPr marL="431800" lvl="1" indent="-215900" algn="l">
              <a:lnSpc>
                <a:spcPts val="2400"/>
              </a:lnSpc>
              <a:buFont typeface="Arial" panose="020B0604020202020204"/>
              <a:buChar char="•"/>
            </a:pPr>
            <a:r>
              <a:rPr lang="en-US" sz="2000" spc="-19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Drone fleets</a:t>
            </a:r>
          </a:p>
          <a:p>
            <a:pPr marL="431800" lvl="1" indent="-215900" algn="l">
              <a:lnSpc>
                <a:spcPts val="2400"/>
              </a:lnSpc>
              <a:buFont typeface="Arial" panose="020B0604020202020204"/>
              <a:buChar char="•"/>
            </a:pPr>
            <a:r>
              <a:rPr lang="en-US" sz="2000" spc="-19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Autonomous monitoring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 spc="-19">
              <a:solidFill>
                <a:srgbClr val="000000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865376" y="4779699"/>
            <a:ext cx="5530950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0" lvl="1" indent="-215900" algn="l">
              <a:lnSpc>
                <a:spcPts val="2400"/>
              </a:lnSpc>
              <a:buFont typeface="Arial" panose="020B0604020202020204"/>
              <a:buChar char="•"/>
            </a:pPr>
            <a:r>
              <a:rPr lang="en-US" sz="2000" spc="-19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Emergent coordination without communication</a:t>
            </a:r>
          </a:p>
          <a:p>
            <a:pPr marL="431800" lvl="1" indent="-215900" algn="l">
              <a:lnSpc>
                <a:spcPts val="2400"/>
              </a:lnSpc>
              <a:buFont typeface="Arial" panose="020B0604020202020204"/>
              <a:buChar char="•"/>
            </a:pPr>
            <a:r>
              <a:rPr lang="en-US" sz="2000" spc="-19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Capability-based learning</a:t>
            </a:r>
          </a:p>
          <a:p>
            <a:pPr marL="431800" lvl="1" indent="-215900" algn="l">
              <a:lnSpc>
                <a:spcPts val="2400"/>
              </a:lnSpc>
              <a:buFont typeface="Arial" panose="020B0604020202020204"/>
              <a:buChar char="•"/>
            </a:pPr>
            <a:r>
              <a:rPr lang="en-US" sz="2000" spc="-19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Adaptive training curriculum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 spc="-19">
              <a:solidFill>
                <a:srgbClr val="000000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069986" y="4434980"/>
            <a:ext cx="3884613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0" lvl="1" indent="-215900" algn="l">
              <a:lnSpc>
                <a:spcPts val="2400"/>
              </a:lnSpc>
              <a:buFont typeface="Arial" panose="020B0604020202020204"/>
              <a:buChar char="•"/>
            </a:pPr>
            <a:r>
              <a:rPr lang="en-US" sz="2000" spc="-19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Real-world deployment</a:t>
            </a:r>
          </a:p>
          <a:p>
            <a:pPr marL="431800" lvl="1" indent="-215900" algn="l">
              <a:lnSpc>
                <a:spcPts val="2400"/>
              </a:lnSpc>
              <a:buFont typeface="Arial" panose="020B0604020202020204"/>
              <a:buChar char="•"/>
            </a:pPr>
            <a:r>
              <a:rPr lang="en-US" sz="2000" spc="-19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Scalable multi-agent expansion</a:t>
            </a:r>
          </a:p>
          <a:p>
            <a:pPr marL="431800" lvl="1" indent="-215900" algn="l">
              <a:lnSpc>
                <a:spcPts val="2400"/>
              </a:lnSpc>
              <a:buFont typeface="Arial" panose="020B0604020202020204"/>
              <a:buChar char="•"/>
            </a:pPr>
            <a:r>
              <a:rPr lang="en-US" sz="2000" spc="-19">
                <a:solidFill>
                  <a:srgbClr val="000000"/>
                </a:solidFill>
                <a:latin typeface="Arial Unicode" panose="020B0604020202020204" charset="-122"/>
                <a:ea typeface="Arial Unicode" panose="020B0604020202020204" charset="-122"/>
                <a:cs typeface="Arial Unicode" panose="020B0604020202020204" charset="-122"/>
                <a:sym typeface="Arial Unicode" panose="020B0604020202020204" charset="-122"/>
              </a:rPr>
              <a:t>Improved training models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 spc="-19">
              <a:solidFill>
                <a:srgbClr val="000000"/>
              </a:solidFill>
              <a:latin typeface="Arial Unicode" panose="020B0604020202020204" charset="-122"/>
              <a:ea typeface="Arial Unicode" panose="020B0604020202020204" charset="-122"/>
              <a:cs typeface="Arial Unicode" panose="020B0604020202020204" charset="-122"/>
              <a:sym typeface="Arial Unicode" panose="020B0604020202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615144"/>
            <a:ext cx="7078473" cy="571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5"/>
              </a:lnSpc>
            </a:pPr>
            <a:r>
              <a:rPr lang="en-US" sz="25160" spc="-1232">
                <a:solidFill>
                  <a:srgbClr val="D9D9D9">
                    <a:alpha val="34902"/>
                  </a:srgbClr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23242"/>
            <a:ext cx="7517542" cy="5710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85"/>
              </a:lnSpc>
            </a:pPr>
            <a:r>
              <a:rPr lang="en-US" sz="25160" spc="-1232">
                <a:solidFill>
                  <a:srgbClr val="81191A"/>
                </a:solidFill>
                <a:latin typeface="Anton" panose="00000500000000000000"/>
                <a:ea typeface="Anton" panose="00000500000000000000"/>
                <a:cs typeface="Anton" panose="00000500000000000000"/>
                <a:sym typeface="Anton" panose="0000050000000000000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469</Words>
  <Application>Microsoft Office PowerPoint</Application>
  <PresentationFormat>Custom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Stencil</vt:lpstr>
      <vt:lpstr>Arial Unicode</vt:lpstr>
      <vt:lpstr>Arial Unicode Bold</vt:lpstr>
      <vt:lpstr>Calibri</vt:lpstr>
      <vt:lpstr>Anton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and White Marketing Plan Presentation</dc:title>
  <dc:creator>Smriti</dc:creator>
  <cp:lastModifiedBy>Smriti S</cp:lastModifiedBy>
  <cp:revision>3</cp:revision>
  <dcterms:created xsi:type="dcterms:W3CDTF">2006-08-16T00:00:00Z</dcterms:created>
  <dcterms:modified xsi:type="dcterms:W3CDTF">2026-04-26T10:52:15Z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236976616BA742BE9D7F8876320E67DC_12</vt:lpwstr>
  </property>
  <property fmtid="{D5CDD505-2E9C-101B-9397-08002B2CF9AE}" pid="3" name="KSOProductBuildVer">
    <vt:lpwstr>1033-12.2.0.23202</vt:lpwstr>
  </property>
</Properties>
</file>